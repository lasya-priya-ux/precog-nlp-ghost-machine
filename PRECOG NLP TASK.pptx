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0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9B-4340-9E9A-97CEAD048C03}"/>
              </c:ext>
            </c:extLst>
          </c:dPt>
          <c:dPt>
            <c:idx val="1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9B-4340-9E9A-97CEAD048C03}"/>
              </c:ext>
            </c:extLst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9B-4340-9E9A-97CEAD048C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Tier A: XGBoost
(Features)</c:v>
                </c:pt>
                <c:pt idx="1">
                  <c:v>Tier B: Neural Net
(GloVe)</c:v>
                </c:pt>
                <c:pt idx="2">
                  <c:v>Tier C: DistilBERT
(LoRA)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98.3</c:v>
                </c:pt>
                <c:pt idx="1">
                  <c:v>99.7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49B-4340-9E9A-97CEAD048C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1"/>
          <c:min val="9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16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560320" cy="256032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PRECOG Lab — NLP Recruitment Task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Ghost in the Machine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Human Text Classification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583680" cy="777240"/>
          </a:xfrm>
          <a:prstGeom prst="roundRect">
            <a:avLst>
              <a:gd name="adj" fmla="val 9412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9443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 style, c'est l'homme même</a:t>
            </a:r>
            <a:r>
              <a:rPr lang="en-US" sz="1200" i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- </a:t>
            </a: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 is the man himself</a:t>
            </a:r>
            <a:r>
              <a:rPr lang="en-US" sz="1200" i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- </a:t>
            </a: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Georges-Louis Leclerc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Lasya Priya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 |  SRM Institute of Science and Technology, Hyderabad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443484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0B4D8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36208" y="445312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github.com/Lasya-priya-ux/precog-nlp-ghost-machine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</a:t>
            </a:r>
            <a:r>
              <a:rPr lang="en-US" sz="30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- </a:t>
            </a: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What I Didn't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PRECOG: First page must state exactly what was completed and what was not.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280160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8016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2435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Creation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9961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paragraphs across 3 classes (Human, GenericAI, StyleAI)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3350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2029968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029968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Fingerprinting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24942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linguistic </a:t>
            </a:r>
            <a:r>
              <a:rPr lang="en-US" sz="100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- </a:t>
            </a: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TTR, punctuation, readability, POS, dependency depth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2084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2779776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77977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80160" y="2743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Classification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99923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(98.3%), Neural Net GloVe (99.7%), DistilBERT+LoRA (100%)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1985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529584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52958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80160" y="3493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7490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Saliency maps + error analysis on 3 misclassified samples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3584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966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4279392"/>
            <a:ext cx="658368" cy="420624"/>
          </a:xfrm>
          <a:prstGeom prst="roundRect">
            <a:avLst>
              <a:gd name="adj" fmla="val 13043"/>
            </a:avLst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42793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80160" y="42428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+ Personal Test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49884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generations, reached 84.3% human confidence + personal test (98.9%)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43342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FFF3CD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Note: Gemini API quota was </a:t>
            </a:r>
            <a:r>
              <a:rPr lang="en-US" sz="950">
                <a:solidFill>
                  <a:srgbClr val="7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exhausted - </a:t>
            </a:r>
            <a:r>
              <a:rPr lang="en-US" sz="950" dirty="0">
                <a:solidFill>
                  <a:srgbClr val="7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Groq (Llama-3.1-8B) instead. All tasks completed fully.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0: The Library of Babel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dataset where </a:t>
            </a:r>
            <a:r>
              <a:rPr lang="en-US" sz="1300" i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 - </a:t>
            </a: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r>
              <a:rPr lang="en-US" sz="1300" i="1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- </a:t>
            </a: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primary variable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06D6A0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Victorian Novels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2331720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Charles </a:t>
            </a:r>
            <a:r>
              <a:rPr lang="en-US" sz="100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Dickens - </a:t>
            </a: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679192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Jane </a:t>
            </a:r>
            <a:r>
              <a:rPr lang="en-US" sz="100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Austen - </a:t>
            </a: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Pride &amp; Prejudice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026664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250 paragraphs each = 500 total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3374136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Cleaned: headers, chapter titles removed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09728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170432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170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0128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 Same Topics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331720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15 topics extracted from novels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679192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Llama-3.1-8B via Groq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026664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Formal, neutral style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374136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500 paragraphs generated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109728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54496" y="1170432"/>
            <a:ext cx="2560320" cy="411480"/>
          </a:xfrm>
          <a:prstGeom prst="roundRect">
            <a:avLst>
              <a:gd name="adj" fmla="val 15556"/>
            </a:avLst>
          </a:prstGeom>
          <a:solidFill>
            <a:srgbClr val="FFD166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54496" y="1170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4496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54496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Mimicking Authors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2331720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Same 15 topics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2679192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Prompted to imitate Dickens / Austen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7648" y="3026664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Alternating styles (250 each)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3374136"/>
            <a:ext cx="2450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500 style-mimicked paragraphs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709160"/>
            <a:ext cx="8595360" cy="347472"/>
          </a:xfrm>
          <a:prstGeom prst="roundRect">
            <a:avLst>
              <a:gd name="adj" fmla="val 21053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72744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Dataset: 1,500 paragraphs  |  Balanced: 500 per class  |  Topics: 15 (7 Dickens + 8 Austen)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Feature Distributions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proof that the three classes are mathematically distinct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reveal clear mathematical signatures for each class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041648" cy="173736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Flesch-Kincaid Grade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Human: 8.4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3172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AI: 16.4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at college level; Dickens &amp; Austen at Grade 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041648" cy="173736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Semicolons / 1000 chars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5361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Human: 1.81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1536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AI: 0.00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0665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GenericAI uses ZERO </a:t>
            </a:r>
            <a:r>
              <a:rPr lang="en-US" sz="100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semicolons - </a:t>
            </a: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giveaway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4041648" cy="173736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Type-Token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Human: 0.745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31720" y="3456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AI: 0.694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98678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use more diverse vocabulary than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99232"/>
            <a:ext cx="4041648" cy="173736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Hapax Legomena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Human: 64.5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3456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AI: 80.2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398678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overuses rare words trying to sound sophisticated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The Multi-Tiered Detective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with increasing complexity — from features to full transformers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Statistician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020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5361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13 handcrafted features from Task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77393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Tests if linguistic statistics alone can distinguish classes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28016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132320" y="1901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87168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D166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8716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Semanticist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00200" y="2487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 + GloVe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28346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400K-word pre-trained GloVe embeddings (50d)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30723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Tests if semantic meaning adds discriminative power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0" y="257860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32320" y="3200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785616"/>
            <a:ext cx="960120" cy="960120"/>
          </a:xfrm>
          <a:prstGeom prst="roundRect">
            <a:avLst>
              <a:gd name="adj" fmla="val 7619"/>
            </a:avLst>
          </a:prstGeom>
          <a:solidFill>
            <a:srgbClr val="06D6A0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85616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37856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 + LoRA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00200" y="413308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Raw text → fine-tuned transformer (1.3% params trained)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00200" y="43708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Tests state-of-the-art NLP on the full classification task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3877056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32320" y="4498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A: XGBoost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 accuracy using only 13 handcrafted linguistic features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2960"/>
            <a:ext cx="4114800" cy="33832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822960"/>
            <a:ext cx="4480560" cy="33832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4315968"/>
            <a:ext cx="877824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/>
        </p:spPr>
      </p:sp>
      <p:sp>
        <p:nvSpPr>
          <p:cNvPr id="7" name="Text 3"/>
          <p:cNvSpPr/>
          <p:nvPr/>
        </p:nvSpPr>
        <p:spPr>
          <a:xfrm>
            <a:off x="320040" y="4352544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Flesch-Kincaid (#1) + avg_word_length (#2) + semicolons (#3</a:t>
            </a:r>
            <a:r>
              <a:rPr lang="en-US" sz="110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- </a:t>
            </a: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Task 1 analysis predicted!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B: Neural Network + GloVe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accuracy using averaged GloVe word embeddings (400K vocabulary)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41248"/>
            <a:ext cx="54864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841248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896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72200" y="11155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FFN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256→128→64→3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1618488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1673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72200" y="189280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50d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 words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2395728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24505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72200" y="26700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epochs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172968"/>
            <a:ext cx="283464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72200" y="32278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72200" y="34472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error / 300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24612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132337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3282696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drops from 34.5 → ~0 within 10 epochs showing rapid convergence. GloVe semantic embeddings add meaningful signal beyond handcrafted features (+1.4% over XGBoost).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C: DistilBERT + </a:t>
            </a:r>
            <a:r>
              <a:rPr lang="en-US" sz="26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- </a:t>
            </a: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Accuracy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 transformer with only 1.3% of parameters trainable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41248"/>
            <a:ext cx="45720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83480" y="868680"/>
            <a:ext cx="859536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83480" y="868680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79592" y="868680"/>
            <a:ext cx="859536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9592" y="868680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775704" y="868680"/>
            <a:ext cx="859536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75704" y="868680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71816" y="868680"/>
            <a:ext cx="859536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71816" y="868680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83480" y="1344168"/>
            <a:ext cx="8595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134416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79592" y="1344168"/>
            <a:ext cx="8595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9592" y="134416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75704" y="1344168"/>
            <a:ext cx="8595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75704" y="134416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0.386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71816" y="1344168"/>
            <a:ext cx="8595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71816" y="134416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983480" y="1819656"/>
            <a:ext cx="859536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1819656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79592" y="1819656"/>
            <a:ext cx="859536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79592" y="1819656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0.107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75704" y="1819656"/>
            <a:ext cx="859536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75704" y="1819656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671816" y="1819656"/>
            <a:ext cx="859536" cy="438912"/>
          </a:xfrm>
          <a:prstGeom prst="rect">
            <a:avLst/>
          </a:prstGeom>
          <a:solidFill>
            <a:srgbClr val="E8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71816" y="1819656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983480" y="2295144"/>
            <a:ext cx="8595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2295144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879592" y="2295144"/>
            <a:ext cx="8595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79592" y="2295144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775704" y="2295144"/>
            <a:ext cx="8595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75704" y="2295144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0.028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671816" y="2295144"/>
            <a:ext cx="85953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71816" y="2295144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892040" y="2816352"/>
            <a:ext cx="3931920" cy="1719072"/>
          </a:xfrm>
          <a:prstGeom prst="roundRect">
            <a:avLst>
              <a:gd name="adj" fmla="val 5319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0292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LoRA Configuration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02920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Only 887K / 67.8M params trained (1.3%)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029200" y="3557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r=16, alpha=32, dropout=0.1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029200" y="3867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Target: q_lin + v_lin layers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029200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Trained in ~70 seconds on T4 GPU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Results Comparison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7772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8229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263640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63640" y="117043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54380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errors/300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26480" y="2121408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24688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543800" y="24871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error/300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3419856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3640" y="37673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543800" y="37856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errors/300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4681728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D1B2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47000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far exceed random baseline (33.3%). Progression 98.3%→99.7%→100% confirms deeper representations improve classification.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3: SHAP Feature Importance by Class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model classify a text as AI or Human?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41248"/>
            <a:ext cx="877824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4434840"/>
            <a:ext cx="877824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44622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GenericAI: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avg_word_length </a:t>
            </a:r>
            <a:r>
              <a:rPr lang="en-US" sz="105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-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uses complex long words.  </a:t>
            </a: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hapax + </a:t>
            </a:r>
            <a:r>
              <a:rPr lang="en-US" sz="105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TTR -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richness and diversity matter most.  </a:t>
            </a: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StyleAI: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avg_word_length + sentence_</a:t>
            </a:r>
            <a:r>
              <a:rPr lang="en-US" sz="105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-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over-mimicking complexity.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3: Error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 misclassifications in 300 test </a:t>
            </a:r>
            <a:r>
              <a:rPr lang="en-US" sz="1200" i="1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- </a:t>
            </a:r>
            <a:r>
              <a:rPr lang="en-US" sz="12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the 3 most interesting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61288"/>
            <a:ext cx="384048" cy="384048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247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Human  →  Predicted: StyleAI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"...Georgiana, wife of the above, were dead and buried; and Alexander, Bartholomew, Abraham, Tobias, and Roger, infant children..."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Dickens listing names with extreme formality + heavy </a:t>
            </a: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semicolons -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exactly like StyleAI. Dickens at his most elaborate!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487168"/>
            <a:ext cx="384048" cy="38404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505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Human  →  Predicted: StyleAI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"...its completeness, finish, and entrain, obscure the undoubted critical facts that its scale is small..."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Austen's critical essay-writing style is more formal than her novels. Zero punctuation variety + high FK grade confused the classifier.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1304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7764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StyleAI  →  Predicted: GenericAI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is a truth universally acknowledged, that a woman's social standing is inextricably linked to the whispers..."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43891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StyleAI copied Austen's vocabulary but forgot to mimic her punctuation </a:t>
            </a: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-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caught the absence of natural punctuation.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Genetic Algorithm Evolution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AI text across 8 generations to fool our own classifier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41248"/>
            <a:ext cx="621792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0" y="868680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12280" y="9235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84.3%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675120" y="1801368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12280" y="18562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075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8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675120" y="2734056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12280" y="2788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1228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675120" y="3666744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12280" y="3721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12280" y="39410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82880" y="3931920"/>
            <a:ext cx="8686800" cy="1115568"/>
          </a:xfrm>
          <a:prstGeom prst="roundRect">
            <a:avLst>
              <a:gd name="adj" fmla="val 6557"/>
            </a:avLst>
          </a:prstGeom>
          <a:solidFill>
            <a:srgbClr val="132337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39776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evolved paragraph (Gen </a:t>
            </a:r>
            <a:r>
              <a:rPr lang="en-US" sz="11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6 - </a:t>
            </a: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84.3% Human):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0040" y="42245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"Victorian England was a society ruled by class. The aristocracy held all the cards. But the middle class was </a:t>
            </a:r>
            <a:r>
              <a:rPr lang="en-US" sz="1000" i="1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- </a:t>
            </a:r>
            <a:r>
              <a:rPr lang="en-US" sz="1000" i="1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a desperate struggle to find dignity in the darkness. This wasn't a subtle divide. A chasm yawned between the elite and the masses."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The Personal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my own writing through the </a:t>
            </a:r>
            <a:r>
              <a:rPr lang="en-US" sz="1200" i="1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- </a:t>
            </a:r>
            <a:r>
              <a:rPr lang="en-US" sz="12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trying to fool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88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 My Casual Writing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a particular person has been texting me and asking me to forward something in group related to some IBM based </a:t>
            </a:r>
            <a:r>
              <a:rPr lang="en-US" sz="1050" i="1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- </a:t>
            </a:r>
            <a:r>
              <a:rPr lang="en-US" sz="10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says she is IBM senior coordinator?"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1170432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06D6A0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17043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98.9%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060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 Same message rewritten to sound like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has come to my attention that an individual has been attempting to communicate regarding a potential internship. This person identified herself as a Senior Coordinator and requested that I, in my capacity as Class Representative, disseminate the aforementioned information..."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2688336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D166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2688336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B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041648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0873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deliberately formal AI-sounding vocabulary ("aforementioned", "disseminate", "in my capacity as") couldn't fool the </a:t>
            </a:r>
            <a:r>
              <a:rPr lang="en-US" sz="105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-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94.3% Human. The classifier relies on punctuation patterns and sentence rhythm, not just vocabulary choice. To truly fool it, you'd need to remove ALL punctuation variety and write at grade 16+.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41648" cy="1783080"/>
          </a:xfrm>
          <a:prstGeom prst="roundRect">
            <a:avLst>
              <a:gd name="adj" fmla="val 5128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88136"/>
            <a:ext cx="475488" cy="475488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88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069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is the Smoking Gun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6184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GenericAI uses ZERO semicolons, dashes, or exclamations. Humans use 860x more semicolons. This single feature is highly discriminative.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41648" cy="1783080"/>
          </a:xfrm>
          <a:prstGeom prst="roundRect">
            <a:avLst>
              <a:gd name="adj" fmla="val 5128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88136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88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069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Overcomplicated Everything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6184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at Flesch-Kincaid Grade 16 (college level). Real Dickens &amp; Austen write at Grade 8. AI tries too hard to sound sophisticated.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4041648" cy="1783080"/>
          </a:xfrm>
          <a:prstGeom prst="roundRect">
            <a:avLst>
              <a:gd name="adj" fmla="val 5128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081528"/>
            <a:ext cx="475488" cy="47548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Writing = Most Human Signal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3611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WhatsApp message scored 98.9% </a:t>
            </a:r>
            <a:r>
              <a:rPr lang="en-US" sz="105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-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Victorian novels. Natural imperfection and informality are the strongest human signals.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953512"/>
            <a:ext cx="4041648" cy="1783080"/>
          </a:xfrm>
          <a:prstGeom prst="roundRect">
            <a:avLst>
              <a:gd name="adj" fmla="val 5128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081528"/>
            <a:ext cx="475488" cy="47548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4068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Fitness Landscape is Complex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3611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84.3% at Gen 6 but couldn't maintain it. Fooling the classifier requires very specific </a:t>
            </a:r>
            <a:r>
              <a:rPr lang="en-US" sz="105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- </a:t>
            </a:r>
            <a:r>
              <a:rPr lang="en-US" sz="1050" dirty="0">
                <a:solidFill>
                  <a:srgbClr val="F0F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general improvements.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PRECOG Lab NLP Recruitment Task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68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samples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76272" y="24231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76272" y="2468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76272" y="29443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95344" y="24231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95344" y="2468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95344" y="29443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14416" y="24231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14416" y="2468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14416" y="29443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33488" y="2423160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33488" y="2468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84.3%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33488" y="294436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human score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0" y="3566160"/>
            <a:ext cx="6400800" cy="1170432"/>
          </a:xfrm>
          <a:prstGeom prst="roundRect">
            <a:avLst>
              <a:gd name="adj" fmla="val 7813"/>
            </a:avLst>
          </a:prstGeom>
          <a:solidFill>
            <a:srgbClr val="13233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3639312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Lasya Priya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 |  SRM Institute of Science and Technology, Hyderabad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github.com/Lasya-priya-ux/precog-nlp-ghost-machine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1496</Words>
  <Application>Microsoft Office PowerPoint</Application>
  <PresentationFormat>On-screen Show (16:9)</PresentationFormat>
  <Paragraphs>236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Ghost in the Machine - PRECOG NLP Task 2026</dc:title>
  <dc:subject>PptxGenJS Presentation</dc:subject>
  <dc:creator>Lasya Priya</dc:creator>
  <cp:lastModifiedBy>Lasya Priya</cp:lastModifiedBy>
  <cp:revision>2</cp:revision>
  <dcterms:created xsi:type="dcterms:W3CDTF">2026-06-28T06:03:12Z</dcterms:created>
  <dcterms:modified xsi:type="dcterms:W3CDTF">2026-06-29T09:16:22Z</dcterms:modified>
</cp:coreProperties>
</file>